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59" r:id="rId5"/>
    <p:sldId id="270" r:id="rId6"/>
    <p:sldId id="258" r:id="rId7"/>
    <p:sldId id="257" r:id="rId8"/>
    <p:sldId id="261" r:id="rId9"/>
    <p:sldId id="268" r:id="rId10"/>
    <p:sldId id="260"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6896" autoAdjust="0"/>
  </p:normalViewPr>
  <p:slideViewPr>
    <p:cSldViewPr snapToGrid="0">
      <p:cViewPr varScale="1">
        <p:scale>
          <a:sx n="55" d="100"/>
          <a:sy n="55" d="100"/>
        </p:scale>
        <p:origin x="13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6AA817-4A9F-4C44-BC0F-128CB9AB7339}" type="datetimeFigureOut">
              <a:rPr lang="en-US" smtClean="0"/>
              <a:t>7/20/2025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5DA67B-344F-4444-811C-1152371AA698}" type="slidenum">
              <a:rPr lang="en-US" smtClean="0"/>
              <a:t>‹#›</a:t>
            </a:fld>
            <a:endParaRPr lang="en-US"/>
          </a:p>
        </p:txBody>
      </p:sp>
    </p:spTree>
    <p:extLst>
      <p:ext uri="{BB962C8B-B14F-4D97-AF65-F5344CB8AC3E}">
        <p14:creationId xmlns:p14="http://schemas.microsoft.com/office/powerpoint/2010/main" val="2899176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Additional reading material and sources for this presentation:</a:t>
            </a:r>
          </a:p>
          <a:p>
            <a:r>
              <a:rPr lang="en-US" baseline="0" dirty="0"/>
              <a:t>Page 92 of the environmental reader textbook</a:t>
            </a:r>
          </a:p>
          <a:p>
            <a:r>
              <a:rPr lang="en-US" dirty="0"/>
              <a:t>https://www.downtoearth.org.in/coverage/how-bellary-was-laid-waste-33862</a:t>
            </a:r>
          </a:p>
          <a:p>
            <a:r>
              <a:rPr lang="en-US" dirty="0"/>
              <a:t>https://www.downtoearth.org.in/coverage/what-bleeds-bellary-1739</a:t>
            </a:r>
          </a:p>
          <a:p>
            <a:r>
              <a:rPr lang="en-US" dirty="0"/>
              <a:t>https://www.outlookindia.com/magazine/story/the-wanton-sins-of-the-soil/277937</a:t>
            </a:r>
          </a:p>
          <a:p>
            <a:r>
              <a:rPr lang="en-US" dirty="0"/>
              <a:t>https://economictimes.indiatimes.com/news/politics-and-nation/anatomy-of-bellary-mining-loot-efficient-system-of-corruption-to-mine-store-and-transport-iron-ore/articleshow/9424299.cms</a:t>
            </a:r>
          </a:p>
          <a:p>
            <a:endParaRPr lang="en-US" dirty="0"/>
          </a:p>
        </p:txBody>
      </p:sp>
      <p:sp>
        <p:nvSpPr>
          <p:cNvPr id="4" name="Slide Number Placeholder 3"/>
          <p:cNvSpPr>
            <a:spLocks noGrp="1"/>
          </p:cNvSpPr>
          <p:nvPr>
            <p:ph type="sldNum" sz="quarter" idx="10"/>
          </p:nvPr>
        </p:nvSpPr>
        <p:spPr/>
        <p:txBody>
          <a:bodyPr/>
          <a:lstStyle/>
          <a:p>
            <a:fld id="{1D5DA67B-344F-4444-811C-1152371AA698}" type="slidenum">
              <a:rPr lang="en-US" smtClean="0"/>
              <a:t>1</a:t>
            </a:fld>
            <a:endParaRPr lang="en-US"/>
          </a:p>
        </p:txBody>
      </p:sp>
    </p:spTree>
    <p:extLst>
      <p:ext uri="{BB962C8B-B14F-4D97-AF65-F5344CB8AC3E}">
        <p14:creationId xmlns:p14="http://schemas.microsoft.com/office/powerpoint/2010/main" val="2254446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Mineral resource sector has played a vital role in the world economy and human development from time immemorial.  The mining sector plays a vital role in the national economy, employs more than half a million persons, and contributes to the country's revenue through exports, royalty (tax paid in return to the right to use), dead rent, </a:t>
            </a:r>
            <a:r>
              <a:rPr lang="en-US" sz="1200" b="0" i="0" kern="1200" dirty="0" err="1">
                <a:solidFill>
                  <a:schemeClr val="tx1"/>
                </a:solidFill>
                <a:effectLst/>
                <a:latin typeface="+mn-lt"/>
                <a:ea typeface="+mn-ea"/>
                <a:cs typeface="+mn-cs"/>
              </a:rPr>
              <a:t>cess</a:t>
            </a:r>
            <a:r>
              <a:rPr lang="en-US" sz="1200" b="0" i="0" kern="1200" dirty="0">
                <a:solidFill>
                  <a:schemeClr val="tx1"/>
                </a:solidFill>
                <a:effectLst/>
                <a:latin typeface="+mn-lt"/>
                <a:ea typeface="+mn-ea"/>
                <a:cs typeface="+mn-cs"/>
              </a:rPr>
              <a:t>, sales tax, and duties. Yet, the environmental (land degradation, land conversion, mine wastes, air pollution, groundwater depreciation, and pollution of water bodies) and social externalities associated with mining are of severe concern.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fact that much of the country's natural resources are located in forest-covered areas raises further environmental and socio-economic concerns. As one of the fastest-growing economies of the world, there is increased pressure for metals/minerals to meet the demands of an estimated 6 per cent growth in GDP, in the following decade.</a:t>
            </a:r>
          </a:p>
          <a:p>
            <a:r>
              <a:rPr lang="en-US" sz="1200" b="0" i="0" kern="1200" dirty="0">
                <a:solidFill>
                  <a:schemeClr val="tx1"/>
                </a:solidFill>
                <a:effectLst/>
                <a:latin typeface="+mn-lt"/>
                <a:ea typeface="+mn-ea"/>
                <a:cs typeface="+mn-cs"/>
              </a:rPr>
              <a:t>Despite India's longstanding institutions for environmental protection, regulatory violations, poor implementation of environment and community rights, over-extraction, and illegal mining continue to anguish the sector. Regulations mandate socio-economic rehabilitation and environmental restoration of mined-out areas, especially post-closure of mines. Yet, there is a lack of evidence on the implementation of the same. Although mining has brought about economic development in the mineral-rich states of Odisha, Goa, Karnataka and Jharkhand, it has also caused significant environmental damages and negatively impacted communities in project areas.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some cases, mining operations have been carried out without regard for the ‘carrying capacity’ of the environment and other infrastructural limitations. This has put avoidable pressure on the environment and caused inconveniences to the people living in the mining areas. Illegal mining in many cases has similar effect while additionally causing loss of public revenues. In this regard we will discuss on one such case study on improper mining practices in </a:t>
            </a:r>
            <a:r>
              <a:rPr lang="en-US" sz="1200" b="0" i="0" kern="1200" dirty="0" err="1">
                <a:solidFill>
                  <a:schemeClr val="tx1"/>
                </a:solidFill>
                <a:effectLst/>
                <a:latin typeface="+mn-lt"/>
                <a:ea typeface="+mn-ea"/>
                <a:cs typeface="+mn-cs"/>
              </a:rPr>
              <a:t>Ballari</a:t>
            </a:r>
            <a:r>
              <a:rPr lang="en-US" sz="1200" b="0" i="0" kern="1200" dirty="0">
                <a:solidFill>
                  <a:schemeClr val="tx1"/>
                </a:solidFill>
                <a:effectLst/>
                <a:latin typeface="+mn-lt"/>
                <a:ea typeface="+mn-ea"/>
                <a:cs typeface="+mn-cs"/>
              </a:rPr>
              <a:t> district in the state of Karnataka.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Reference: https://www.teriin.org/article/indias-mining-sector-towards-sustainable-and-equitable-future</a:t>
            </a:r>
          </a:p>
          <a:p>
            <a:endParaRPr lang="en-IN" dirty="0"/>
          </a:p>
        </p:txBody>
      </p:sp>
      <p:sp>
        <p:nvSpPr>
          <p:cNvPr id="4" name="Slide Number Placeholder 3"/>
          <p:cNvSpPr>
            <a:spLocks noGrp="1"/>
          </p:cNvSpPr>
          <p:nvPr>
            <p:ph type="sldNum" sz="quarter" idx="5"/>
          </p:nvPr>
        </p:nvSpPr>
        <p:spPr/>
        <p:txBody>
          <a:bodyPr/>
          <a:lstStyle/>
          <a:p>
            <a:fld id="{1D5DA67B-344F-4444-811C-1152371AA698}" type="slidenum">
              <a:rPr lang="en-US" smtClean="0"/>
              <a:t>2</a:t>
            </a:fld>
            <a:endParaRPr lang="en-US"/>
          </a:p>
        </p:txBody>
      </p:sp>
    </p:spTree>
    <p:extLst>
      <p:ext uri="{BB962C8B-B14F-4D97-AF65-F5344CB8AC3E}">
        <p14:creationId xmlns:p14="http://schemas.microsoft.com/office/powerpoint/2010/main" val="2213494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Ballari is a major city in the state of Karnataka, near the border between Karnataka and Telangana</a:t>
            </a:r>
            <a:r>
              <a:rPr lang="en-US" baseline="0" dirty="0"/>
              <a:t> and </a:t>
            </a:r>
            <a:r>
              <a:rPr lang="en-US" dirty="0"/>
              <a:t>nearly equidistant from Bangalore and Hyderabad.</a:t>
            </a:r>
            <a:r>
              <a:rPr lang="en-US" baseline="0" dirty="0"/>
              <a:t> It is extremely rich in good quality iron ore with the iron content in its ore ranging from 60-65% (a very high concentration). As a result, it is a popular iron ore mining destination in India and the ore extracted from this region constitutes about 1/5</a:t>
            </a:r>
            <a:r>
              <a:rPr lang="en-US" baseline="30000" dirty="0"/>
              <a:t>th</a:t>
            </a:r>
            <a:r>
              <a:rPr lang="en-US" baseline="0" dirty="0"/>
              <a:t> of India’s total output. A spurt in the local and Chinese demand for stainless steel has made mining in this region even more lucrative with prices soaring from round Rs.1,200 per ton in 2002 to around Rs.6000 per ton in 2006-2007. Unfortunately, this has also resulted in the emergence of illegal mining in the area which has ballooned into one of the biggest mining scams in India. Through the collusion of government officials, regulatory authorities and private companies, mining was done in the region by violating many environmental, mining, labor and land regulations. </a:t>
            </a:r>
            <a:endParaRPr lang="en-US" dirty="0"/>
          </a:p>
        </p:txBody>
      </p:sp>
      <p:sp>
        <p:nvSpPr>
          <p:cNvPr id="4" name="Slide Number Placeholder 3"/>
          <p:cNvSpPr>
            <a:spLocks noGrp="1"/>
          </p:cNvSpPr>
          <p:nvPr>
            <p:ph type="sldNum" sz="quarter" idx="10"/>
          </p:nvPr>
        </p:nvSpPr>
        <p:spPr/>
        <p:txBody>
          <a:bodyPr/>
          <a:lstStyle/>
          <a:p>
            <a:fld id="{1D5DA67B-344F-4444-811C-1152371AA698}" type="slidenum">
              <a:rPr lang="en-US" smtClean="0"/>
              <a:t>3</a:t>
            </a:fld>
            <a:endParaRPr lang="en-US"/>
          </a:p>
        </p:txBody>
      </p:sp>
    </p:spTree>
    <p:extLst>
      <p:ext uri="{BB962C8B-B14F-4D97-AF65-F5344CB8AC3E}">
        <p14:creationId xmlns:p14="http://schemas.microsoft.com/office/powerpoint/2010/main" val="2412791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shows the extent of illegal</a:t>
            </a:r>
            <a:r>
              <a:rPr lang="en-US" baseline="0" dirty="0"/>
              <a:t> mining in Ballari. The red line is the area approved for mining by the government. The yellow line is the boundary set up by the mining companies. The mining companies were supposed to mine and dispose the waste within the designated area. Furthermore, they were supposed to grow a green cover around the mine to suppress the dust released from the mining. Finally, they were allowed to only mine a certain amount of iron ore each day and pay royalties to the government for the ore they ship. None of these protocols were followed properly. The mining companies brazenly mined outside the designated zone, dumped mining refuse on the surrounding forest areas, did not install any green cover and paid the government very low royalties, costing the government an estimated 16000 Cr. Loss in royalties . Furthermore, existing mines were given extension leases and defunct mines were reopened without any check on their wanton environmental destruction. This was done through a comprehensive network formed by corrupt officials and private companies at every stage of the process. The table in the slide shows the estimated amount of bribe received by some of the officials in the government.</a:t>
            </a:r>
          </a:p>
        </p:txBody>
      </p:sp>
      <p:sp>
        <p:nvSpPr>
          <p:cNvPr id="4" name="Slide Number Placeholder 3"/>
          <p:cNvSpPr>
            <a:spLocks noGrp="1"/>
          </p:cNvSpPr>
          <p:nvPr>
            <p:ph type="sldNum" sz="quarter" idx="10"/>
          </p:nvPr>
        </p:nvSpPr>
        <p:spPr/>
        <p:txBody>
          <a:bodyPr/>
          <a:lstStyle/>
          <a:p>
            <a:fld id="{1D5DA67B-344F-4444-811C-1152371AA698}" type="slidenum">
              <a:rPr lang="en-US" smtClean="0"/>
              <a:t>4</a:t>
            </a:fld>
            <a:endParaRPr lang="en-US"/>
          </a:p>
        </p:txBody>
      </p:sp>
    </p:spTree>
    <p:extLst>
      <p:ext uri="{BB962C8B-B14F-4D97-AF65-F5344CB8AC3E}">
        <p14:creationId xmlns:p14="http://schemas.microsoft.com/office/powerpoint/2010/main" val="1513466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tragedy of the Ballari wanton</a:t>
            </a:r>
            <a:r>
              <a:rPr lang="en-US" baseline="0" dirty="0"/>
              <a:t> mining is the extent of damage to the people and environment of Ballari. The unsuppressed red dust released from mines are now the major source of respiratory illness in the region, especially for the children who were illegally employed in the mines and the women. When it rains in the region, the water collect the mud from the mines and deposit it in the Tungabhadra river and clog the Tungabhadra reservoir. As a result, the total capacity of the reservoir has fallen from about 133 thousand million cubic meters (TMC) to 99 TMC in recent years. Furthermore, because the refuse from the mines were not stored properly, they also enter the forest regions during the monsoons and destroy them causing many species like the Egyptian Vulture and </a:t>
            </a:r>
            <a:r>
              <a:rPr lang="en-US" sz="1200" b="0" i="0" kern="1200" dirty="0">
                <a:solidFill>
                  <a:schemeClr val="tx1"/>
                </a:solidFill>
                <a:effectLst/>
                <a:latin typeface="+mn-lt"/>
                <a:ea typeface="+mn-ea"/>
                <a:cs typeface="+mn-cs"/>
              </a:rPr>
              <a:t>Four-horned antelopes</a:t>
            </a:r>
            <a:r>
              <a:rPr lang="en-US" baseline="0" dirty="0"/>
              <a:t> population to completely vanish. </a:t>
            </a:r>
          </a:p>
          <a:p>
            <a:endParaRPr lang="en-US" baseline="0" dirty="0"/>
          </a:p>
          <a:p>
            <a:r>
              <a:rPr lang="en-US" baseline="0" dirty="0"/>
              <a:t>Besides this, the mining has also impacted the earlier main source of employment in the region, agriculture. The top soil in most farms are now covered with iron rich soil making it nearly impossible to farm on them. This has made people very dependent on the mines for their employment. Now that the mines are closed, the total economy and, as a result, the resiliency of the locals has been destroyed and has led to extreme poverty in the region. </a:t>
            </a:r>
            <a:endParaRPr lang="en-US" dirty="0"/>
          </a:p>
        </p:txBody>
      </p:sp>
      <p:sp>
        <p:nvSpPr>
          <p:cNvPr id="4" name="Slide Number Placeholder 3"/>
          <p:cNvSpPr>
            <a:spLocks noGrp="1"/>
          </p:cNvSpPr>
          <p:nvPr>
            <p:ph type="sldNum" sz="quarter" idx="10"/>
          </p:nvPr>
        </p:nvSpPr>
        <p:spPr/>
        <p:txBody>
          <a:bodyPr/>
          <a:lstStyle/>
          <a:p>
            <a:fld id="{1D5DA67B-344F-4444-811C-1152371AA698}" type="slidenum">
              <a:rPr lang="en-US" smtClean="0"/>
              <a:t>5</a:t>
            </a:fld>
            <a:endParaRPr lang="en-US"/>
          </a:p>
        </p:txBody>
      </p:sp>
    </p:spTree>
    <p:extLst>
      <p:ext uri="{BB962C8B-B14F-4D97-AF65-F5344CB8AC3E}">
        <p14:creationId xmlns:p14="http://schemas.microsoft.com/office/powerpoint/2010/main" val="3449902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D5DA67B-344F-4444-811C-1152371AA698}" type="slidenum">
              <a:rPr lang="en-US" smtClean="0"/>
              <a:t>6</a:t>
            </a:fld>
            <a:endParaRPr lang="en-US"/>
          </a:p>
        </p:txBody>
      </p:sp>
    </p:spTree>
    <p:extLst>
      <p:ext uri="{BB962C8B-B14F-4D97-AF65-F5344CB8AC3E}">
        <p14:creationId xmlns:p14="http://schemas.microsoft.com/office/powerpoint/2010/main" val="39321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revelations</a:t>
            </a:r>
            <a:r>
              <a:rPr lang="en-US" baseline="0" dirty="0"/>
              <a:t> of Ballari, many other such instances have come into the limelight around the country. The way the country deals with the Ballari scam with a new mining bill will set the precedent for the resolution of other illegal mining cases in India.</a:t>
            </a:r>
          </a:p>
          <a:p>
            <a:endParaRPr lang="en-US" baseline="0" dirty="0"/>
          </a:p>
          <a:p>
            <a:r>
              <a:rPr lang="en-US" baseline="0" dirty="0"/>
              <a:t>New Mineral Policy 2019 advocates for the stringent laws for environmentally sustainable mining practices. Mining industry is always in need of proper research and development in order to make sure the industry is ready for today’s ever-changing commitment to sustainability and turning the world into a more “environmentally sustainable’ place.</a:t>
            </a:r>
          </a:p>
          <a:p>
            <a:endParaRPr lang="en-US" baseline="0" dirty="0"/>
          </a:p>
          <a:p>
            <a:r>
              <a:rPr lang="en-US" baseline="0" dirty="0"/>
              <a:t>Reference: https://www.constructionworld.in/energy-infrastructure/coal-and-mining/environmentally-sustainable-mining-practices-in-india/24840</a:t>
            </a:r>
          </a:p>
          <a:p>
            <a:r>
              <a:rPr lang="en-US" baseline="0" dirty="0"/>
              <a:t>                 https://www.downtoearth.org.in/blog/can-mining-be-made-sustainable--58132</a:t>
            </a:r>
            <a:endParaRPr lang="en-US" dirty="0"/>
          </a:p>
        </p:txBody>
      </p:sp>
      <p:sp>
        <p:nvSpPr>
          <p:cNvPr id="4" name="Slide Number Placeholder 3"/>
          <p:cNvSpPr>
            <a:spLocks noGrp="1"/>
          </p:cNvSpPr>
          <p:nvPr>
            <p:ph type="sldNum" sz="quarter" idx="10"/>
          </p:nvPr>
        </p:nvSpPr>
        <p:spPr/>
        <p:txBody>
          <a:bodyPr/>
          <a:lstStyle/>
          <a:p>
            <a:fld id="{1D5DA67B-344F-4444-811C-1152371AA698}" type="slidenum">
              <a:rPr lang="en-US" smtClean="0"/>
              <a:t>7</a:t>
            </a:fld>
            <a:endParaRPr lang="en-US"/>
          </a:p>
        </p:txBody>
      </p:sp>
    </p:spTree>
    <p:extLst>
      <p:ext uri="{BB962C8B-B14F-4D97-AF65-F5344CB8AC3E}">
        <p14:creationId xmlns:p14="http://schemas.microsoft.com/office/powerpoint/2010/main" val="1927262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D5DA67B-344F-4444-811C-1152371AA698}" type="slidenum">
              <a:rPr lang="en-US" smtClean="0"/>
              <a:t>8</a:t>
            </a:fld>
            <a:endParaRPr lang="en-US"/>
          </a:p>
        </p:txBody>
      </p:sp>
    </p:spTree>
    <p:extLst>
      <p:ext uri="{BB962C8B-B14F-4D97-AF65-F5344CB8AC3E}">
        <p14:creationId xmlns:p14="http://schemas.microsoft.com/office/powerpoint/2010/main" val="2335014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ED03CE-C35E-430A-8E31-0587F61C088E}"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198531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ED03CE-C35E-430A-8E31-0587F61C088E}"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330759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ED03CE-C35E-430A-8E31-0587F61C088E}"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208415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ED03CE-C35E-430A-8E31-0587F61C088E}"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1082920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ED03CE-C35E-430A-8E31-0587F61C088E}"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51024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ED03CE-C35E-430A-8E31-0587F61C088E}"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998052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ED03CE-C35E-430A-8E31-0587F61C088E}"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2798503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ED03CE-C35E-430A-8E31-0587F61C088E}"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1179465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ED03CE-C35E-430A-8E31-0587F61C088E}"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2813518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ED03CE-C35E-430A-8E31-0587F61C088E}"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1212983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ED03CE-C35E-430A-8E31-0587F61C088E}"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4A3361-FB51-4B32-A4F0-28991067116F}" type="slidenum">
              <a:rPr lang="en-US" smtClean="0"/>
              <a:t>‹#›</a:t>
            </a:fld>
            <a:endParaRPr lang="en-US"/>
          </a:p>
        </p:txBody>
      </p:sp>
    </p:spTree>
    <p:extLst>
      <p:ext uri="{BB962C8B-B14F-4D97-AF65-F5344CB8AC3E}">
        <p14:creationId xmlns:p14="http://schemas.microsoft.com/office/powerpoint/2010/main" val="3300635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D03CE-C35E-430A-8E31-0587F61C088E}" type="datetimeFigureOut">
              <a:rPr lang="en-US" smtClean="0"/>
              <a:t>7/20/2025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4A3361-FB51-4B32-A4F0-28991067116F}" type="slidenum">
              <a:rPr lang="en-US" smtClean="0"/>
              <a:t>‹#›</a:t>
            </a:fld>
            <a:endParaRPr lang="en-US"/>
          </a:p>
        </p:txBody>
      </p:sp>
    </p:spTree>
    <p:extLst>
      <p:ext uri="{BB962C8B-B14F-4D97-AF65-F5344CB8AC3E}">
        <p14:creationId xmlns:p14="http://schemas.microsoft.com/office/powerpoint/2010/main" val="22638685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6" name="Title 1"/>
          <p:cNvSpPr txBox="1">
            <a:spLocks/>
          </p:cNvSpPr>
          <p:nvPr/>
        </p:nvSpPr>
        <p:spPr>
          <a:xfrm>
            <a:off x="388219" y="434011"/>
            <a:ext cx="5529501" cy="1363579"/>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rPr>
              <a:t>Case Study -1</a:t>
            </a:r>
          </a:p>
          <a:p>
            <a:pPr algn="ctr"/>
            <a:r>
              <a:rPr lang="en-US" b="1" dirty="0">
                <a:solidFill>
                  <a:schemeClr val="bg1"/>
                </a:solidFill>
              </a:rPr>
              <a:t>The Great Mining Mess</a:t>
            </a:r>
          </a:p>
        </p:txBody>
      </p:sp>
      <p:sp>
        <p:nvSpPr>
          <p:cNvPr id="8" name="Rectangle 7"/>
          <p:cNvSpPr/>
          <p:nvPr/>
        </p:nvSpPr>
        <p:spPr>
          <a:xfrm>
            <a:off x="11011593" y="6611779"/>
            <a:ext cx="1180407" cy="246221"/>
          </a:xfrm>
          <a:prstGeom prst="rect">
            <a:avLst/>
          </a:prstGeom>
          <a:solidFill>
            <a:schemeClr val="tx1"/>
          </a:solidFill>
        </p:spPr>
        <p:txBody>
          <a:bodyPr wrap="square">
            <a:spAutoFit/>
          </a:bodyPr>
          <a:lstStyle/>
          <a:p>
            <a:r>
              <a:rPr lang="en-US" sz="1000" dirty="0">
                <a:solidFill>
                  <a:schemeClr val="bg1"/>
                </a:solidFill>
              </a:rPr>
              <a:t>Source: The Hindu</a:t>
            </a:r>
          </a:p>
        </p:txBody>
      </p:sp>
    </p:spTree>
    <p:extLst>
      <p:ext uri="{BB962C8B-B14F-4D97-AF65-F5344CB8AC3E}">
        <p14:creationId xmlns:p14="http://schemas.microsoft.com/office/powerpoint/2010/main" val="4204614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8CF76-7C62-4B88-90EF-F43FF1101F8D}"/>
              </a:ext>
            </a:extLst>
          </p:cNvPr>
          <p:cNvSpPr>
            <a:spLocks noGrp="1"/>
          </p:cNvSpPr>
          <p:nvPr>
            <p:ph type="title"/>
          </p:nvPr>
        </p:nvSpPr>
        <p:spPr/>
        <p:txBody>
          <a:bodyPr/>
          <a:lstStyle/>
          <a:p>
            <a:endParaRPr lang="en-IN"/>
          </a:p>
        </p:txBody>
      </p:sp>
      <p:sp>
        <p:nvSpPr>
          <p:cNvPr id="5" name="Rectangle 4">
            <a:extLst>
              <a:ext uri="{FF2B5EF4-FFF2-40B4-BE49-F238E27FC236}">
                <a16:creationId xmlns:a16="http://schemas.microsoft.com/office/drawing/2014/main" id="{3D5EF81D-5AD1-4098-9A07-A9AA4FB8AE01}"/>
              </a:ext>
            </a:extLst>
          </p:cNvPr>
          <p:cNvSpPr/>
          <p:nvPr/>
        </p:nvSpPr>
        <p:spPr>
          <a:xfrm>
            <a:off x="3465781" y="5640628"/>
            <a:ext cx="3270042" cy="276999"/>
          </a:xfrm>
          <a:prstGeom prst="rect">
            <a:avLst/>
          </a:prstGeom>
        </p:spPr>
        <p:txBody>
          <a:bodyPr wrap="square">
            <a:spAutoFit/>
          </a:bodyPr>
          <a:lstStyle/>
          <a:p>
            <a:r>
              <a:rPr lang="en-IN" sz="1200" dirty="0"/>
              <a:t>Source: </a:t>
            </a:r>
            <a:r>
              <a:rPr lang="en-US" sz="1200" dirty="0" err="1"/>
              <a:t>Kuni</a:t>
            </a:r>
            <a:r>
              <a:rPr lang="en-US" sz="1200" dirty="0"/>
              <a:t> Takahashi for The New York Times</a:t>
            </a:r>
            <a:endParaRPr lang="en-IN" sz="1200" dirty="0"/>
          </a:p>
        </p:txBody>
      </p:sp>
      <p:pic>
        <p:nvPicPr>
          <p:cNvPr id="1026" name="Picture 2" descr="A young coal miner studied English during a break in Khliehriat, India. The few nearby schools teach in local dialects.">
            <a:extLst>
              <a:ext uri="{FF2B5EF4-FFF2-40B4-BE49-F238E27FC236}">
                <a16:creationId xmlns:a16="http://schemas.microsoft.com/office/drawing/2014/main" id="{F6B6386B-93E4-4BA2-AB8E-49ACDD8A7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69830"/>
            <a:ext cx="6406197" cy="42707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e 1">
            <a:extLst>
              <a:ext uri="{FF2B5EF4-FFF2-40B4-BE49-F238E27FC236}">
                <a16:creationId xmlns:a16="http://schemas.microsoft.com/office/drawing/2014/main" id="{B17B87CB-21E6-468A-87B8-1822F4DE10A5}"/>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868538" y="-789647"/>
            <a:ext cx="4073124" cy="773893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039B0646-A1CF-417A-AF09-0161469D9AEB}"/>
              </a:ext>
            </a:extLst>
          </p:cNvPr>
          <p:cNvSpPr/>
          <p:nvPr/>
        </p:nvSpPr>
        <p:spPr>
          <a:xfrm>
            <a:off x="5833639" y="6522555"/>
            <a:ext cx="1034899" cy="307777"/>
          </a:xfrm>
          <a:prstGeom prst="rect">
            <a:avLst/>
          </a:prstGeom>
        </p:spPr>
        <p:txBody>
          <a:bodyPr wrap="none">
            <a:spAutoFit/>
          </a:bodyPr>
          <a:lstStyle/>
          <a:p>
            <a:r>
              <a:rPr lang="en-IN" sz="1400" dirty="0"/>
              <a:t>Source: </a:t>
            </a:r>
            <a:r>
              <a:rPr lang="en-US" sz="1400" dirty="0"/>
              <a:t>Teri</a:t>
            </a:r>
            <a:endParaRPr lang="en-IN" sz="1400" dirty="0"/>
          </a:p>
        </p:txBody>
      </p:sp>
    </p:spTree>
    <p:extLst>
      <p:ext uri="{BB962C8B-B14F-4D97-AF65-F5344CB8AC3E}">
        <p14:creationId xmlns:p14="http://schemas.microsoft.com/office/powerpoint/2010/main" val="3010726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4000" b="-14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6905" y="2470484"/>
            <a:ext cx="1106906" cy="449179"/>
          </a:xfrm>
          <a:solidFill>
            <a:schemeClr val="bg1"/>
          </a:solidFill>
        </p:spPr>
        <p:txBody>
          <a:bodyPr>
            <a:noAutofit/>
          </a:bodyPr>
          <a:lstStyle/>
          <a:p>
            <a:r>
              <a:rPr lang="en-US" sz="2800" b="1" dirty="0"/>
              <a:t>Ballari</a:t>
            </a:r>
          </a:p>
        </p:txBody>
      </p:sp>
      <p:sp>
        <p:nvSpPr>
          <p:cNvPr id="5" name="Rectangle 4"/>
          <p:cNvSpPr/>
          <p:nvPr/>
        </p:nvSpPr>
        <p:spPr>
          <a:xfrm>
            <a:off x="10856422" y="6611779"/>
            <a:ext cx="1335578" cy="246221"/>
          </a:xfrm>
          <a:prstGeom prst="rect">
            <a:avLst/>
          </a:prstGeom>
          <a:solidFill>
            <a:schemeClr val="tx1"/>
          </a:solidFill>
        </p:spPr>
        <p:txBody>
          <a:bodyPr wrap="square">
            <a:spAutoFit/>
          </a:bodyPr>
          <a:lstStyle/>
          <a:p>
            <a:r>
              <a:rPr lang="en-US" sz="1000" dirty="0">
                <a:solidFill>
                  <a:schemeClr val="bg1"/>
                </a:solidFill>
              </a:rPr>
              <a:t>Source: Google Maps</a:t>
            </a:r>
          </a:p>
        </p:txBody>
      </p:sp>
      <p:sp>
        <p:nvSpPr>
          <p:cNvPr id="7" name="Title 1"/>
          <p:cNvSpPr txBox="1">
            <a:spLocks/>
          </p:cNvSpPr>
          <p:nvPr/>
        </p:nvSpPr>
        <p:spPr>
          <a:xfrm>
            <a:off x="7851524" y="2919663"/>
            <a:ext cx="3254279" cy="1486082"/>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bg1"/>
                </a:solidFill>
              </a:rPr>
              <a:t>Ballari: Introduction</a:t>
            </a:r>
          </a:p>
        </p:txBody>
      </p:sp>
    </p:spTree>
    <p:extLst>
      <p:ext uri="{BB962C8B-B14F-4D97-AF65-F5344CB8AC3E}">
        <p14:creationId xmlns:p14="http://schemas.microsoft.com/office/powerpoint/2010/main" val="314767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ellary environmental disas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296" y="0"/>
            <a:ext cx="7193704"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998296" y="0"/>
            <a:ext cx="1352205" cy="246221"/>
          </a:xfrm>
          <a:prstGeom prst="rect">
            <a:avLst/>
          </a:prstGeom>
          <a:solidFill>
            <a:schemeClr val="tx1"/>
          </a:solidFill>
        </p:spPr>
        <p:txBody>
          <a:bodyPr wrap="square">
            <a:spAutoFit/>
          </a:bodyPr>
          <a:lstStyle/>
          <a:p>
            <a:r>
              <a:rPr lang="en-US" sz="1000" dirty="0">
                <a:solidFill>
                  <a:schemeClr val="bg1"/>
                </a:solidFill>
              </a:rPr>
              <a:t>Source: Down to Earth</a:t>
            </a:r>
          </a:p>
        </p:txBody>
      </p:sp>
      <p:sp>
        <p:nvSpPr>
          <p:cNvPr id="7" name="Rectangle 6"/>
          <p:cNvSpPr/>
          <p:nvPr/>
        </p:nvSpPr>
        <p:spPr>
          <a:xfrm>
            <a:off x="3507971" y="6633556"/>
            <a:ext cx="1490325" cy="246221"/>
          </a:xfrm>
          <a:prstGeom prst="rect">
            <a:avLst/>
          </a:prstGeom>
          <a:solidFill>
            <a:schemeClr val="tx1"/>
          </a:solidFill>
        </p:spPr>
        <p:txBody>
          <a:bodyPr wrap="square">
            <a:spAutoFit/>
          </a:bodyPr>
          <a:lstStyle/>
          <a:p>
            <a:r>
              <a:rPr lang="en-US" sz="1000" dirty="0">
                <a:solidFill>
                  <a:schemeClr val="bg1"/>
                </a:solidFill>
              </a:rPr>
              <a:t>Source: Economic times</a:t>
            </a:r>
          </a:p>
        </p:txBody>
      </p:sp>
      <p:sp>
        <p:nvSpPr>
          <p:cNvPr id="9" name="Title 1"/>
          <p:cNvSpPr txBox="1">
            <a:spLocks/>
          </p:cNvSpPr>
          <p:nvPr/>
        </p:nvSpPr>
        <p:spPr>
          <a:xfrm>
            <a:off x="361245" y="0"/>
            <a:ext cx="4177503" cy="89777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bg1"/>
                </a:solidFill>
              </a:rPr>
              <a:t>The Scam</a:t>
            </a:r>
          </a:p>
        </p:txBody>
      </p:sp>
      <p:pic>
        <p:nvPicPr>
          <p:cNvPr id="3076" name="Picture 4"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884" y="1021699"/>
            <a:ext cx="4040864" cy="434393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1156796" y="5750037"/>
            <a:ext cx="1352205" cy="246221"/>
          </a:xfrm>
          <a:prstGeom prst="rect">
            <a:avLst/>
          </a:prstGeom>
          <a:solidFill>
            <a:schemeClr val="tx1"/>
          </a:solidFill>
        </p:spPr>
        <p:txBody>
          <a:bodyPr wrap="square">
            <a:spAutoFit/>
          </a:bodyPr>
          <a:lstStyle/>
          <a:p>
            <a:r>
              <a:rPr lang="en-US" sz="1000" dirty="0">
                <a:solidFill>
                  <a:schemeClr val="bg1"/>
                </a:solidFill>
              </a:rPr>
              <a:t>Source: Down to Earth</a:t>
            </a:r>
          </a:p>
        </p:txBody>
      </p:sp>
    </p:spTree>
    <p:extLst>
      <p:ext uri="{BB962C8B-B14F-4D97-AF65-F5344CB8AC3E}">
        <p14:creationId xmlns:p14="http://schemas.microsoft.com/office/powerpoint/2010/main" val="2408678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8204" y="170578"/>
            <a:ext cx="4743796" cy="668875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0839795" y="6611779"/>
            <a:ext cx="1352205" cy="246221"/>
          </a:xfrm>
          <a:prstGeom prst="rect">
            <a:avLst/>
          </a:prstGeom>
          <a:solidFill>
            <a:schemeClr val="tx1"/>
          </a:solidFill>
        </p:spPr>
        <p:txBody>
          <a:bodyPr wrap="square">
            <a:spAutoFit/>
          </a:bodyPr>
          <a:lstStyle/>
          <a:p>
            <a:r>
              <a:rPr lang="en-US" sz="1000" dirty="0">
                <a:solidFill>
                  <a:schemeClr val="bg1"/>
                </a:solidFill>
              </a:rPr>
              <a:t>Source: Down to Earth</a:t>
            </a:r>
          </a:p>
        </p:txBody>
      </p:sp>
      <p:sp>
        <p:nvSpPr>
          <p:cNvPr id="7" name="Title 1"/>
          <p:cNvSpPr txBox="1">
            <a:spLocks/>
          </p:cNvSpPr>
          <p:nvPr/>
        </p:nvSpPr>
        <p:spPr>
          <a:xfrm>
            <a:off x="1389020" y="764771"/>
            <a:ext cx="4260631" cy="1313411"/>
          </a:xfrm>
          <a:prstGeom prst="rect">
            <a:avLst/>
          </a:prstGeom>
          <a:solidFill>
            <a:schemeClr val="tx1"/>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bg1"/>
                </a:solidFill>
              </a:rPr>
              <a:t>The Environmental Destruction</a:t>
            </a:r>
          </a:p>
        </p:txBody>
      </p:sp>
      <p:pic>
        <p:nvPicPr>
          <p:cNvPr id="5126" name="Picture 6" descr="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025833"/>
            <a:ext cx="7038670" cy="383216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0" y="6611779"/>
            <a:ext cx="1352205" cy="246221"/>
          </a:xfrm>
          <a:prstGeom prst="rect">
            <a:avLst/>
          </a:prstGeom>
          <a:solidFill>
            <a:schemeClr val="tx1"/>
          </a:solidFill>
        </p:spPr>
        <p:txBody>
          <a:bodyPr wrap="square">
            <a:spAutoFit/>
          </a:bodyPr>
          <a:lstStyle/>
          <a:p>
            <a:r>
              <a:rPr lang="en-US" sz="1000" dirty="0">
                <a:solidFill>
                  <a:schemeClr val="bg1"/>
                </a:solidFill>
              </a:rPr>
              <a:t>Source: Down to Earth</a:t>
            </a:r>
          </a:p>
        </p:txBody>
      </p:sp>
    </p:spTree>
    <p:extLst>
      <p:ext uri="{BB962C8B-B14F-4D97-AF65-F5344CB8AC3E}">
        <p14:creationId xmlns:p14="http://schemas.microsoft.com/office/powerpoint/2010/main" val="3242124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3"/>
          <a:stretch>
            <a:fillRect/>
          </a:stretch>
        </p:blipFill>
        <p:spPr>
          <a:xfrm>
            <a:off x="838200" y="1825625"/>
            <a:ext cx="4177492" cy="2693323"/>
          </a:xfrm>
          <a:prstGeom prst="rect">
            <a:avLst/>
          </a:prstGeom>
        </p:spPr>
      </p:pic>
      <p:sp>
        <p:nvSpPr>
          <p:cNvPr id="5" name="TextBox 4"/>
          <p:cNvSpPr txBox="1"/>
          <p:nvPr/>
        </p:nvSpPr>
        <p:spPr>
          <a:xfrm>
            <a:off x="1745673" y="4653885"/>
            <a:ext cx="2224712" cy="461665"/>
          </a:xfrm>
          <a:prstGeom prst="rect">
            <a:avLst/>
          </a:prstGeom>
          <a:noFill/>
        </p:spPr>
        <p:txBody>
          <a:bodyPr wrap="none" rtlCol="0">
            <a:spAutoFit/>
          </a:bodyPr>
          <a:lstStyle/>
          <a:p>
            <a:r>
              <a:rPr lang="en-US" sz="2400" dirty="0"/>
              <a:t>Egyptian vulture</a:t>
            </a:r>
          </a:p>
        </p:txBody>
      </p:sp>
      <p:pic>
        <p:nvPicPr>
          <p:cNvPr id="6" name="Picture 5"/>
          <p:cNvPicPr>
            <a:picLocks noChangeAspect="1"/>
          </p:cNvPicPr>
          <p:nvPr/>
        </p:nvPicPr>
        <p:blipFill>
          <a:blip r:embed="rId4"/>
          <a:stretch>
            <a:fillRect/>
          </a:stretch>
        </p:blipFill>
        <p:spPr>
          <a:xfrm>
            <a:off x="7465262" y="1825625"/>
            <a:ext cx="3888538" cy="2693323"/>
          </a:xfrm>
          <a:prstGeom prst="rect">
            <a:avLst/>
          </a:prstGeom>
        </p:spPr>
      </p:pic>
      <p:sp>
        <p:nvSpPr>
          <p:cNvPr id="7" name="TextBox 6"/>
          <p:cNvSpPr txBox="1"/>
          <p:nvPr/>
        </p:nvSpPr>
        <p:spPr>
          <a:xfrm>
            <a:off x="7955864" y="4653885"/>
            <a:ext cx="2907334" cy="461665"/>
          </a:xfrm>
          <a:prstGeom prst="rect">
            <a:avLst/>
          </a:prstGeom>
          <a:noFill/>
        </p:spPr>
        <p:txBody>
          <a:bodyPr wrap="none" rtlCol="0">
            <a:spAutoFit/>
          </a:bodyPr>
          <a:lstStyle/>
          <a:p>
            <a:r>
              <a:rPr lang="en-US" sz="2400" dirty="0"/>
              <a:t>Four horned antelope</a:t>
            </a:r>
          </a:p>
        </p:txBody>
      </p:sp>
    </p:spTree>
    <p:extLst>
      <p:ext uri="{BB962C8B-B14F-4D97-AF65-F5344CB8AC3E}">
        <p14:creationId xmlns:p14="http://schemas.microsoft.com/office/powerpoint/2010/main" val="4054756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616931"/>
            <a:ext cx="1579418" cy="246221"/>
          </a:xfrm>
          <a:prstGeom prst="rect">
            <a:avLst/>
          </a:prstGeom>
          <a:solidFill>
            <a:schemeClr val="tx1"/>
          </a:solidFill>
        </p:spPr>
        <p:txBody>
          <a:bodyPr wrap="square">
            <a:spAutoFit/>
          </a:bodyPr>
          <a:lstStyle/>
          <a:p>
            <a:r>
              <a:rPr lang="en-US" sz="1000" dirty="0">
                <a:solidFill>
                  <a:schemeClr val="bg1"/>
                </a:solidFill>
              </a:rPr>
              <a:t>Source: outlookindia.com</a:t>
            </a:r>
          </a:p>
        </p:txBody>
      </p:sp>
      <p:sp>
        <p:nvSpPr>
          <p:cNvPr id="3" name="Title 2">
            <a:extLst>
              <a:ext uri="{FF2B5EF4-FFF2-40B4-BE49-F238E27FC236}">
                <a16:creationId xmlns:a16="http://schemas.microsoft.com/office/drawing/2014/main" id="{8BBA7524-11B4-4A5D-A87F-F78F47EA5B99}"/>
              </a:ext>
            </a:extLst>
          </p:cNvPr>
          <p:cNvSpPr>
            <a:spLocks noGrp="1"/>
          </p:cNvSpPr>
          <p:nvPr>
            <p:ph type="title"/>
          </p:nvPr>
        </p:nvSpPr>
        <p:spPr/>
        <p:txBody>
          <a:bodyPr/>
          <a:lstStyle/>
          <a:p>
            <a:r>
              <a:rPr lang="en-US" dirty="0"/>
              <a:t>Way Forward</a:t>
            </a:r>
            <a:endParaRPr lang="en-IN" dirty="0"/>
          </a:p>
        </p:txBody>
      </p:sp>
      <p:sp>
        <p:nvSpPr>
          <p:cNvPr id="4" name="Content Placeholder 3">
            <a:extLst>
              <a:ext uri="{FF2B5EF4-FFF2-40B4-BE49-F238E27FC236}">
                <a16:creationId xmlns:a16="http://schemas.microsoft.com/office/drawing/2014/main" id="{8A9ACC28-1BE4-4C42-927A-C5A1F2E9B447}"/>
              </a:ext>
            </a:extLst>
          </p:cNvPr>
          <p:cNvSpPr>
            <a:spLocks noGrp="1"/>
          </p:cNvSpPr>
          <p:nvPr>
            <p:ph idx="1"/>
          </p:nvPr>
        </p:nvSpPr>
        <p:spPr/>
        <p:txBody>
          <a:bodyPr/>
          <a:lstStyle/>
          <a:p>
            <a:r>
              <a:rPr lang="en-US" dirty="0"/>
              <a:t>Reduce resources inputs for effective mining practices</a:t>
            </a:r>
          </a:p>
          <a:p>
            <a:r>
              <a:rPr lang="en-US" dirty="0"/>
              <a:t>Improving the efficiency of mining processes</a:t>
            </a:r>
          </a:p>
          <a:p>
            <a:r>
              <a:rPr lang="en-US" dirty="0"/>
              <a:t>Replenishing the environment</a:t>
            </a:r>
          </a:p>
          <a:p>
            <a:r>
              <a:rPr lang="en-US" dirty="0"/>
              <a:t>Proper waste disposal</a:t>
            </a:r>
          </a:p>
          <a:p>
            <a:endParaRPr lang="en-IN" dirty="0"/>
          </a:p>
        </p:txBody>
      </p:sp>
    </p:spTree>
    <p:extLst>
      <p:ext uri="{BB962C8B-B14F-4D97-AF65-F5344CB8AC3E}">
        <p14:creationId xmlns:p14="http://schemas.microsoft.com/office/powerpoint/2010/main" val="305353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4276" y="1742962"/>
            <a:ext cx="8628611" cy="3785652"/>
          </a:xfrm>
          <a:prstGeom prst="rect">
            <a:avLst/>
          </a:prstGeom>
        </p:spPr>
        <p:txBody>
          <a:bodyPr wrap="square">
            <a:spAutoFit/>
          </a:bodyPr>
          <a:lstStyle/>
          <a:p>
            <a:r>
              <a:rPr lang="en-US" sz="2000" dirty="0"/>
              <a:t>Page 92 of the environmental reader textbook</a:t>
            </a:r>
          </a:p>
          <a:p>
            <a:endParaRPr lang="en-US" sz="2000" dirty="0"/>
          </a:p>
          <a:p>
            <a:r>
              <a:rPr lang="en-US" sz="2000" dirty="0"/>
              <a:t>https://www.downtoearth.org.in/coverage/how-bellary-was-laid-waste-33862</a:t>
            </a:r>
          </a:p>
          <a:p>
            <a:endParaRPr lang="en-US" sz="2000" dirty="0"/>
          </a:p>
          <a:p>
            <a:r>
              <a:rPr lang="en-US" sz="2000" dirty="0"/>
              <a:t>https://www.downtoearth.org.in/coverage/what-bleeds-bellary-1739</a:t>
            </a:r>
          </a:p>
          <a:p>
            <a:endParaRPr lang="en-US" sz="2000" dirty="0"/>
          </a:p>
          <a:p>
            <a:r>
              <a:rPr lang="en-US" sz="2000" dirty="0"/>
              <a:t>https://www.outlookindia.com/magazine/story/the-wanton-sins-of-the-soil/277937</a:t>
            </a:r>
          </a:p>
          <a:p>
            <a:endParaRPr lang="en-US" sz="2000" dirty="0"/>
          </a:p>
          <a:p>
            <a:r>
              <a:rPr lang="en-US" sz="2000" dirty="0"/>
              <a:t>https://economictimes.indiatimes.com/news/politics-and-nation/anatomy-of-bellary-mining-loot-efficient-system-of-corruption-to-mine-store-and-transport-iron-ore/articleshow/9424299.cms</a:t>
            </a:r>
          </a:p>
        </p:txBody>
      </p:sp>
      <p:sp>
        <p:nvSpPr>
          <p:cNvPr id="3" name="TextBox 2"/>
          <p:cNvSpPr txBox="1"/>
          <p:nvPr/>
        </p:nvSpPr>
        <p:spPr>
          <a:xfrm>
            <a:off x="964276" y="914400"/>
            <a:ext cx="2045112" cy="523220"/>
          </a:xfrm>
          <a:prstGeom prst="rect">
            <a:avLst/>
          </a:prstGeom>
          <a:noFill/>
        </p:spPr>
        <p:txBody>
          <a:bodyPr wrap="none" rtlCol="0">
            <a:spAutoFit/>
          </a:bodyPr>
          <a:lstStyle/>
          <a:p>
            <a:r>
              <a:rPr lang="en-US" sz="2800" dirty="0"/>
              <a:t>References : </a:t>
            </a:r>
          </a:p>
        </p:txBody>
      </p:sp>
    </p:spTree>
    <p:extLst>
      <p:ext uri="{BB962C8B-B14F-4D97-AF65-F5344CB8AC3E}">
        <p14:creationId xmlns:p14="http://schemas.microsoft.com/office/powerpoint/2010/main" val="361770675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7F348E329B61F448C592F86ACE200BC" ma:contentTypeVersion="8" ma:contentTypeDescription="Create a new document." ma:contentTypeScope="" ma:versionID="fca94d91a16ebbf940415a097ec19cd5">
  <xsd:schema xmlns:xsd="http://www.w3.org/2001/XMLSchema" xmlns:xs="http://www.w3.org/2001/XMLSchema" xmlns:p="http://schemas.microsoft.com/office/2006/metadata/properties" xmlns:ns2="d5df4efb-bd0f-4d00-b803-a8243a1d720e" targetNamespace="http://schemas.microsoft.com/office/2006/metadata/properties" ma:root="true" ma:fieldsID="7bb4209af2d87a3f46ee4e41ddb04d6a" ns2:_="">
    <xsd:import namespace="d5df4efb-bd0f-4d00-b803-a8243a1d72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df4efb-bd0f-4d00-b803-a8243a1d7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104BB1-EE60-4506-B7B0-0B2F29584CA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5975F9C-7110-4F6F-A590-3386CDC1F079}">
  <ds:schemaRefs>
    <ds:schemaRef ds:uri="http://schemas.microsoft.com/sharepoint/v3/contenttype/forms"/>
  </ds:schemaRefs>
</ds:datastoreItem>
</file>

<file path=customXml/itemProps3.xml><?xml version="1.0" encoding="utf-8"?>
<ds:datastoreItem xmlns:ds="http://schemas.openxmlformats.org/officeDocument/2006/customXml" ds:itemID="{A6E02029-27AC-4966-951D-CE9159E0DD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df4efb-bd0f-4d00-b803-a8243a1d72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1019</TotalTime>
  <Words>1387</Words>
  <Application>Microsoft Office PowerPoint</Application>
  <PresentationFormat>Widescreen</PresentationFormat>
  <Paragraphs>66</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Ballari</vt:lpstr>
      <vt:lpstr>PowerPoint Presentation</vt:lpstr>
      <vt:lpstr>PowerPoint Presentation</vt:lpstr>
      <vt:lpstr>PowerPoint Presentation</vt:lpstr>
      <vt:lpstr>Way Forward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Bellary was laid waste</dc:title>
  <dc:creator>Shaurya Rahul Narlanka</dc:creator>
  <cp:lastModifiedBy>Vishnu Unnikrishnan [MAHE-MIT]</cp:lastModifiedBy>
  <cp:revision>125</cp:revision>
  <dcterms:created xsi:type="dcterms:W3CDTF">2019-07-05T09:14:57Z</dcterms:created>
  <dcterms:modified xsi:type="dcterms:W3CDTF">2025-07-20T14:36:32Z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0x01010057F348E329B61F448C592F86ACE200BC</vt:lpwstr>
  </property>
</Properties>
</file>